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2011680"/>
            <a:ext cx="3200400" cy="73152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286000"/>
            <a:ext cx="108173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F4F4F9"/>
                </a:solidFill>
                <a:latin typeface="Arial" panose="020B0604020202020204"/>
              </a:defRPr>
            </a:pPr>
            <a:r>
              <a:t>TwinFusion AI</a:t>
            </a:r>
          </a:p>
          <a:p>
            <a:pPr>
              <a:spcBef>
                <a:spcPts val="1400"/>
              </a:spcBef>
              <a:defRPr sz="2200">
                <a:solidFill>
                  <a:srgbClr val="06B6D4"/>
                </a:solidFill>
                <a:latin typeface="Arial" panose="020B0604020202020204"/>
              </a:defRPr>
            </a:pPr>
            <a:r>
              <a:t>Co-Piloting the Campus Transition with a Personal AI Digital Twin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303520"/>
            <a:ext cx="3359150" cy="4914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A99AD"/>
                </a:solidFill>
                <a:latin typeface="Arial" panose="020B0604020202020204"/>
              </a:defRPr>
            </a:pPr>
            <a:r>
              <a:t>Google Student Ambassador Hackathon</a:t>
            </a:r>
          </a:p>
          <a:p>
            <a:pPr>
              <a:defRPr sz="1200">
                <a:solidFill>
                  <a:srgbClr val="8A99AD"/>
                </a:solidFill>
                <a:latin typeface="Arial" panose="020B0604020202020204"/>
              </a:defRPr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4F4F9"/>
                </a:solidFill>
                <a:latin typeface="Arial" panose="020B0604020202020204"/>
              </a:defRPr>
            </a:pPr>
            <a:r>
              <a:t>The Fresher's Dilemma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828800"/>
            <a:ext cx="3383280" cy="3840480"/>
          </a:xfrm>
          <a:prstGeom prst="roundRect">
            <a:avLst/>
          </a:prstGeom>
          <a:solidFill>
            <a:srgbClr val="0F0F1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01168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366F1"/>
                </a:solidFill>
                <a:latin typeface="Courier New" panose="02070309020205020404"/>
              </a:defRPr>
            </a:pPr>
            <a:r>
              <a:t>01</a:t>
            </a:r>
          </a:p>
          <a:p>
            <a:pPr>
              <a:spcBef>
                <a:spcPts val="1400"/>
              </a:spcBef>
              <a:spcAft>
                <a:spcPts val="1000"/>
              </a:spcAft>
              <a:defRPr sz="2000" b="1">
                <a:solidFill>
                  <a:srgbClr val="F4F4F9"/>
                </a:solidFill>
                <a:latin typeface="Arial" panose="020B0604020202020204"/>
              </a:defRPr>
            </a:pPr>
            <a:r>
              <a:t>Information Overload</a:t>
            </a:r>
          </a:p>
          <a:p>
            <a:pPr>
              <a:lnSpc>
                <a:spcPct val="130000"/>
              </a:lnSpc>
              <a:defRPr sz="1400">
                <a:solidFill>
                  <a:srgbClr val="8A99AD"/>
                </a:solidFill>
                <a:latin typeface="Arial" panose="020B0604020202020204"/>
              </a:defRPr>
            </a:pPr>
            <a:r>
              <a:t>Important alerts and announcements are scattered across chaos channels (WhatsApp, print boards, messy sites).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828800"/>
            <a:ext cx="3383280" cy="3840480"/>
          </a:xfrm>
          <a:prstGeom prst="roundRect">
            <a:avLst/>
          </a:prstGeom>
          <a:solidFill>
            <a:srgbClr val="0F0F1A"/>
          </a:solidFill>
          <a:ln w="19050">
            <a:solidFill>
              <a:srgbClr val="8A99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26280" y="201168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B6D4"/>
                </a:solidFill>
                <a:latin typeface="Courier New" panose="02070309020205020404"/>
              </a:defRPr>
            </a:pPr>
            <a:r>
              <a:t>02</a:t>
            </a:r>
          </a:p>
          <a:p>
            <a:pPr>
              <a:spcBef>
                <a:spcPts val="1400"/>
              </a:spcBef>
              <a:spcAft>
                <a:spcPts val="1000"/>
              </a:spcAft>
              <a:defRPr sz="2000" b="1">
                <a:solidFill>
                  <a:srgbClr val="F4F4F9"/>
                </a:solidFill>
                <a:latin typeface="Arial" panose="020B0604020202020204"/>
              </a:defRPr>
            </a:pPr>
            <a:r>
              <a:t>Broken Campus Navigation</a:t>
            </a:r>
          </a:p>
          <a:p>
            <a:pPr>
              <a:lnSpc>
                <a:spcPct val="130000"/>
              </a:lnSpc>
              <a:defRPr sz="1400">
                <a:solidFill>
                  <a:srgbClr val="8A99AD"/>
                </a:solidFill>
                <a:latin typeface="Arial" panose="020B0604020202020204"/>
              </a:defRPr>
            </a:pPr>
            <a:r>
              <a:t>Lost classrooms, faculty offices, and admin departments cause stress and delays during early weeks.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1828800"/>
            <a:ext cx="3383280" cy="3840480"/>
          </a:xfrm>
          <a:prstGeom prst="roundRect">
            <a:avLst/>
          </a:prstGeom>
          <a:solidFill>
            <a:srgbClr val="0F0F1A"/>
          </a:solidFill>
          <a:ln w="19050">
            <a:solidFill>
              <a:srgbClr val="8A99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80" y="201168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366F1"/>
                </a:solidFill>
                <a:latin typeface="Courier New" panose="02070309020205020404"/>
              </a:defRPr>
            </a:pPr>
            <a:r>
              <a:t>03</a:t>
            </a:r>
          </a:p>
          <a:p>
            <a:pPr>
              <a:spcBef>
                <a:spcPts val="1400"/>
              </a:spcBef>
              <a:spcAft>
                <a:spcPts val="1000"/>
              </a:spcAft>
              <a:defRPr sz="2000" b="1">
                <a:solidFill>
                  <a:srgbClr val="F4F4F9"/>
                </a:solidFill>
                <a:latin typeface="Arial" panose="020B0604020202020204"/>
              </a:defRPr>
            </a:pPr>
            <a:r>
              <a:t>Missed Opportunities</a:t>
            </a:r>
          </a:p>
          <a:p>
            <a:pPr>
              <a:lnSpc>
                <a:spcPct val="130000"/>
              </a:lnSpc>
              <a:defRPr sz="1400">
                <a:solidFill>
                  <a:srgbClr val="8A99AD"/>
                </a:solidFill>
                <a:latin typeface="Arial" panose="020B0604020202020204"/>
              </a:defRPr>
            </a:pPr>
            <a:r>
              <a:t>Students miss crucial club entries, workshops, and hackathons simply due to lack of visibility.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4F4F9"/>
                </a:solidFill>
                <a:latin typeface="Arial" panose="020B0604020202020204"/>
              </a:defRPr>
            </a:pPr>
            <a:r>
              <a:t>Our Solution: The AI Digital Twin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2000"/>
              </a:spcAft>
              <a:defRPr sz="2000">
                <a:solidFill>
                  <a:srgbClr val="F4F4F9"/>
                </a:solidFill>
                <a:latin typeface="Arial" panose="020B0604020202020204"/>
              </a:defRPr>
            </a:pPr>
            <a:r>
              <a:t>Instead of presenting the same static information to everyone, TwinFusion AI models a personal digital companion for each student.</a:t>
            </a:r>
          </a:p>
          <a:p>
            <a:pPr>
              <a:spcBef>
                <a:spcPts val="1000"/>
              </a:spcBef>
              <a:defRPr sz="1600" b="1">
                <a:solidFill>
                  <a:srgbClr val="06B6D4"/>
                </a:solidFill>
                <a:latin typeface="Arial" panose="020B0604020202020204"/>
              </a:defRPr>
            </a:pPr>
            <a:r>
              <a:t>• 9-Question Profile Setup: </a:t>
            </a:r>
          </a:p>
          <a:p>
            <a:pPr>
              <a:defRPr sz="1400">
                <a:solidFill>
                  <a:srgbClr val="8A99AD"/>
                </a:solidFill>
                <a:latin typeface="Arial" panose="020B0604020202020204"/>
              </a:defRPr>
            </a:pPr>
            <a:r>
              <a:t>  Twin calibrates based on department, coding experience, and aspirations.</a:t>
            </a:r>
          </a:p>
          <a:p>
            <a:pPr>
              <a:spcBef>
                <a:spcPts val="1000"/>
              </a:spcBef>
              <a:defRPr sz="1600" b="1">
                <a:solidFill>
                  <a:srgbClr val="06B6D4"/>
                </a:solidFill>
                <a:latin typeface="Arial" panose="020B0604020202020204"/>
              </a:defRPr>
            </a:pPr>
            <a:r>
              <a:t>• Timetable-Centric View: </a:t>
            </a:r>
          </a:p>
          <a:p>
            <a:pPr>
              <a:defRPr sz="1400">
                <a:solidFill>
                  <a:srgbClr val="8A99AD"/>
                </a:solidFill>
                <a:latin typeface="Arial" panose="020B0604020202020204"/>
              </a:defRPr>
            </a:pPr>
            <a:r>
              <a:t>  Your planner is built dynamically matching your daily course slots.</a:t>
            </a:r>
          </a:p>
          <a:p>
            <a:pPr>
              <a:spcBef>
                <a:spcPts val="1000"/>
              </a:spcBef>
              <a:defRPr sz="1600" b="1">
                <a:solidFill>
                  <a:srgbClr val="06B6D4"/>
                </a:solidFill>
                <a:latin typeface="Arial" panose="020B0604020202020204"/>
              </a:defRPr>
            </a:pPr>
            <a:r>
              <a:t>• Proactive AI Companion: </a:t>
            </a:r>
          </a:p>
          <a:p>
            <a:pPr>
              <a:defRPr sz="1400">
                <a:solidFill>
                  <a:srgbClr val="8A99AD"/>
                </a:solidFill>
                <a:latin typeface="Arial" panose="020B0604020202020204"/>
              </a:defRPr>
            </a:pPr>
            <a:r>
              <a:t>  Acts like a smart senior in your pocket, predicting your queries.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0" y="1645920"/>
            <a:ext cx="4370832" cy="4114800"/>
          </a:xfrm>
          <a:prstGeom prst="rect">
            <a:avLst/>
          </a:prstGeom>
          <a:solidFill>
            <a:srgbClr val="0F0F1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23760" y="1828800"/>
            <a:ext cx="418795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400"/>
              </a:spcAft>
              <a:defRPr sz="1400" b="1">
                <a:solidFill>
                  <a:srgbClr val="06B6D4"/>
                </a:solidFill>
                <a:latin typeface="Arial" panose="020B0604020202020204"/>
              </a:defRPr>
            </a:pPr>
            <a:r>
              <a:t>THE CONSTELLATION SYNC</a:t>
            </a:r>
          </a:p>
          <a:p>
            <a:pPr algn="ctr">
              <a:spcBef>
                <a:spcPts val="1400"/>
              </a:spcBef>
              <a:defRPr sz="1300">
                <a:solidFill>
                  <a:srgbClr val="F4F4F9"/>
                </a:solidFill>
                <a:latin typeface="Courier New" panose="02070309020205020404"/>
              </a:defRPr>
            </a:pPr>
            <a:r>
              <a:t>YOU Node  &lt;==== Pulse Telemetry ====&gt;  TWIN Node</a:t>
            </a:r>
          </a:p>
          <a:p>
            <a:pPr algn="ctr">
              <a:spcBef>
                <a:spcPts val="1400"/>
              </a:spcBef>
              <a:defRPr sz="1300">
                <a:solidFill>
                  <a:srgbClr val="F4F4F9"/>
                </a:solidFill>
                <a:latin typeface="Courier New" panose="02070309020205020404"/>
              </a:defRPr>
            </a:pPr>
            <a:r>
              <a:t>🛰️ Interests Node synced</a:t>
            </a:r>
          </a:p>
          <a:p>
            <a:pPr algn="ctr">
              <a:spcBef>
                <a:spcPts val="1400"/>
              </a:spcBef>
              <a:defRPr sz="1300">
                <a:solidFill>
                  <a:srgbClr val="F4F4F9"/>
                </a:solidFill>
                <a:latin typeface="Courier New" panose="02070309020205020404"/>
              </a:defRPr>
            </a:pPr>
            <a:r>
              <a:t>🛰️ Skills calibrated</a:t>
            </a:r>
          </a:p>
          <a:p>
            <a:pPr algn="ctr">
              <a:spcBef>
                <a:spcPts val="1400"/>
              </a:spcBef>
              <a:defRPr sz="1300">
                <a:solidFill>
                  <a:srgbClr val="F4F4F9"/>
                </a:solidFill>
                <a:latin typeface="Courier New" panose="02070309020205020404"/>
              </a:defRPr>
            </a:pPr>
            <a:r>
              <a:t>🛰️ Academic Schedule mapped</a:t>
            </a:r>
          </a:p>
          <a:p>
            <a:pPr algn="ctr">
              <a:spcBef>
                <a:spcPts val="1400"/>
              </a:spcBef>
              <a:defRPr sz="1300">
                <a:solidFill>
                  <a:srgbClr val="F4F4F9"/>
                </a:solidFill>
                <a:latin typeface="Courier New" panose="02070309020205020404"/>
              </a:defRPr>
            </a:pPr>
            <a:r>
              <a:t>🛰️ Targets cataloged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4F4F9"/>
                </a:solidFill>
                <a:latin typeface="Arial" panose="020B0604020202020204"/>
              </a:defRPr>
            </a:pPr>
            <a:r>
              <a:t>Key Feature: Opportunity Radar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F4F4F9"/>
                </a:solidFill>
                <a:latin typeface="Arial" panose="020B0604020202020204"/>
              </a:defRPr>
            </a:pPr>
            <a:r>
              <a:t>Smart Matchmaking &amp; Filtering</a:t>
            </a:r>
          </a:p>
          <a:p>
            <a:pPr>
              <a:spcBef>
                <a:spcPts val="1200"/>
              </a:spcBef>
              <a:defRPr sz="1600" b="1">
                <a:solidFill>
                  <a:srgbClr val="06B6D4"/>
                </a:solidFill>
                <a:latin typeface="Arial" panose="020B0604020202020204"/>
              </a:defRPr>
            </a:pPr>
            <a:r>
              <a:t>✔ Interests Mapping</a:t>
            </a:r>
          </a:p>
          <a:p>
            <a:pPr>
              <a:defRPr sz="1400">
                <a:solidFill>
                  <a:srgbClr val="8A99AD"/>
                </a:solidFill>
                <a:latin typeface="Arial" panose="020B0604020202020204"/>
              </a:defRPr>
            </a:pPr>
            <a:r>
              <a:t>Checks coding preferences (e.g. Python) to alert about hackathons, ignoring noise.</a:t>
            </a:r>
          </a:p>
          <a:p>
            <a:pPr>
              <a:spcBef>
                <a:spcPts val="1200"/>
              </a:spcBef>
              <a:defRPr sz="1600" b="1">
                <a:solidFill>
                  <a:srgbClr val="06B6D4"/>
                </a:solidFill>
                <a:latin typeface="Arial" panose="020B0604020202020204"/>
              </a:defRPr>
            </a:pPr>
            <a:r>
              <a:t>✔ Deadlines Tracking</a:t>
            </a:r>
          </a:p>
          <a:p>
            <a:pPr>
              <a:defRPr sz="1400">
                <a:solidFill>
                  <a:srgbClr val="8A99AD"/>
                </a:solidFill>
                <a:latin typeface="Arial" panose="020B0604020202020204"/>
              </a:defRPr>
            </a:pPr>
            <a:r>
              <a:t>Reminds you days ahead about club entries and events before they close.</a:t>
            </a:r>
          </a:p>
          <a:p>
            <a:pPr>
              <a:spcBef>
                <a:spcPts val="1200"/>
              </a:spcBef>
              <a:defRPr sz="1600" b="1">
                <a:solidFill>
                  <a:srgbClr val="06B6D4"/>
                </a:solidFill>
                <a:latin typeface="Arial" panose="020B0604020202020204"/>
              </a:defRPr>
            </a:pPr>
            <a:r>
              <a:t>✔ Google Ambassadorship Radar</a:t>
            </a:r>
          </a:p>
          <a:p>
            <a:pPr>
              <a:defRPr sz="1400">
                <a:solidFill>
                  <a:srgbClr val="8A99AD"/>
                </a:solidFill>
                <a:latin typeface="Arial" panose="020B0604020202020204"/>
              </a:defRPr>
            </a:pPr>
            <a:r>
              <a:t>Directly targets Google-sponsored hackathons and local coding challenges.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72200" y="1645920"/>
            <a:ext cx="5330952" cy="4114800"/>
          </a:xfrm>
          <a:prstGeom prst="roundRect">
            <a:avLst/>
          </a:prstGeom>
          <a:solidFill>
            <a:srgbClr val="0F0F1A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55080" y="1828800"/>
            <a:ext cx="496519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600" b="1">
                <a:solidFill>
                  <a:srgbClr val="F4F4F9"/>
                </a:solidFill>
                <a:latin typeface="Arial" panose="020B0604020202020204"/>
              </a:defRPr>
            </a:pPr>
            <a:r>
              <a:t>Interactive Dashboard Preview</a:t>
            </a:r>
          </a:p>
          <a:p>
            <a:pPr>
              <a:spcBef>
                <a:spcPts val="800"/>
              </a:spcBef>
              <a:defRPr sz="1300">
                <a:solidFill>
                  <a:srgbClr val="8A99AD"/>
                </a:solidFill>
                <a:latin typeface="Arial" panose="020B0604020202020204"/>
              </a:defRPr>
            </a:pPr>
            <a:r>
              <a:t>0% - 29% Calibration: Awaiting Profile Sync...</a:t>
            </a:r>
          </a:p>
          <a:p>
            <a:pPr>
              <a:spcBef>
                <a:spcPts val="800"/>
              </a:spcBef>
              <a:defRPr sz="1300">
                <a:solidFill>
                  <a:srgbClr val="8A99AD"/>
                </a:solidFill>
                <a:latin typeface="Arial" panose="020B0604020202020204"/>
              </a:defRPr>
            </a:pPr>
            <a:r>
              <a:t>30% - 64% Syncing: Learning Interests: Python, AI detected</a:t>
            </a:r>
          </a:p>
          <a:p>
            <a:pPr>
              <a:spcBef>
                <a:spcPts val="800"/>
              </a:spcBef>
              <a:defRPr sz="1300">
                <a:solidFill>
                  <a:srgbClr val="8A99AD"/>
                </a:solidFill>
                <a:latin typeface="Arial" panose="020B0604020202020204"/>
              </a:defRPr>
            </a:pPr>
            <a:r>
              <a:t>65% - 89% Matches Active: Deadlines sync: AI Club registers open!</a:t>
            </a:r>
          </a:p>
          <a:p>
            <a:pPr>
              <a:spcBef>
                <a:spcPts val="800"/>
              </a:spcBef>
              <a:defRPr sz="1300">
                <a:solidFill>
                  <a:srgbClr val="06B6D4"/>
                </a:solidFill>
                <a:latin typeface="Arial" panose="020B0604020202020204"/>
              </a:defRPr>
            </a:pPr>
            <a:r>
              <a:t>90% - 100% Fully Mapped: Google GenAI Hackathon (98% skill match!)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4F4F9"/>
                </a:solidFill>
                <a:latin typeface="Arial" panose="020B0604020202020204"/>
              </a:defRPr>
            </a:pPr>
            <a:r>
              <a:t>Technical Architecture &amp; Google Tech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2103120"/>
            <a:ext cx="2514600" cy="3474720"/>
          </a:xfrm>
          <a:prstGeom prst="rect">
            <a:avLst/>
          </a:prstGeom>
          <a:solidFill>
            <a:srgbClr val="0F0F1A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286000"/>
            <a:ext cx="23317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4F4F9"/>
                </a:solidFill>
                <a:latin typeface="Arial" panose="020B0604020202020204"/>
              </a:defRPr>
            </a:pPr>
            <a:r>
              <a:t>Frontend UI</a:t>
            </a:r>
          </a:p>
          <a:p>
            <a:pPr>
              <a:lnSpc>
                <a:spcPct val="130000"/>
              </a:lnSpc>
              <a:defRPr sz="1300">
                <a:solidFill>
                  <a:srgbClr val="8A99AD"/>
                </a:solidFill>
                <a:latin typeface="Arial" panose="020B0604020202020204"/>
              </a:defRPr>
            </a:pPr>
            <a:r>
              <a:t>React JS &amp; Vite</a:t>
            </a:r>
            <a:br/>
            <a:r>
              <a:t>CSS Grid Transforms</a:t>
            </a:r>
            <a:br/>
            <a:r>
              <a:t>Mouse 3D Parallax Canvas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0" y="2103120"/>
            <a:ext cx="2514600" cy="3474720"/>
          </a:xfrm>
          <a:prstGeom prst="rect">
            <a:avLst/>
          </a:prstGeom>
          <a:solidFill>
            <a:srgbClr val="0F0F1A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0" y="2286000"/>
            <a:ext cx="23317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4F4F9"/>
                </a:solidFill>
                <a:latin typeface="Arial" panose="020B0604020202020204"/>
              </a:defRPr>
            </a:pPr>
            <a:r>
              <a:t>Cognitive Layer</a:t>
            </a:r>
          </a:p>
          <a:p>
            <a:pPr>
              <a:lnSpc>
                <a:spcPct val="130000"/>
              </a:lnSpc>
              <a:defRPr sz="1300">
                <a:solidFill>
                  <a:srgbClr val="8A99AD"/>
                </a:solidFill>
                <a:latin typeface="Arial" panose="020B0604020202020204"/>
              </a:defRPr>
            </a:pPr>
            <a:r>
              <a:t>Google Gemini API</a:t>
            </a:r>
            <a:br/>
            <a:r>
              <a:t>Context processing</a:t>
            </a:r>
            <a:br/>
            <a:r>
              <a:t>Custom senior advisor responses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0760" y="2103120"/>
            <a:ext cx="2514600" cy="3474720"/>
          </a:xfrm>
          <a:prstGeom prst="rect">
            <a:avLst/>
          </a:prstGeom>
          <a:solidFill>
            <a:srgbClr val="0F0F1A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2286000"/>
            <a:ext cx="23317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4F4F9"/>
                </a:solidFill>
                <a:latin typeface="Arial" panose="020B0604020202020204"/>
              </a:defRPr>
            </a:pPr>
            <a:r>
              <a:t>Backend System</a:t>
            </a:r>
          </a:p>
          <a:p>
            <a:pPr>
              <a:lnSpc>
                <a:spcPct val="130000"/>
              </a:lnSpc>
              <a:defRPr sz="1300">
                <a:solidFill>
                  <a:srgbClr val="8A99AD"/>
                </a:solidFill>
                <a:latin typeface="Arial" panose="020B0604020202020204"/>
              </a:defRPr>
            </a:pPr>
            <a:r>
              <a:t>Node.js &amp; Express</a:t>
            </a:r>
            <a:br/>
            <a:r>
              <a:t>REST API integrations</a:t>
            </a:r>
            <a:br/>
            <a:r>
              <a:t>Database coordination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8778240" y="2103120"/>
            <a:ext cx="2514600" cy="3474720"/>
          </a:xfrm>
          <a:prstGeom prst="rect">
            <a:avLst/>
          </a:prstGeom>
          <a:solidFill>
            <a:srgbClr val="0F0F1A"/>
          </a:solidFill>
          <a:ln w="25400">
            <a:solidFill>
              <a:srgbClr val="8A99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0" y="2286000"/>
            <a:ext cx="23317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4F4F9"/>
                </a:solidFill>
                <a:latin typeface="Arial" panose="020B0604020202020204"/>
              </a:defRPr>
            </a:pPr>
            <a:r>
              <a:t>Database Storage</a:t>
            </a:r>
          </a:p>
          <a:p>
            <a:pPr>
              <a:lnSpc>
                <a:spcPct val="130000"/>
              </a:lnSpc>
              <a:defRPr sz="1300">
                <a:solidFill>
                  <a:srgbClr val="8A99AD"/>
                </a:solidFill>
                <a:latin typeface="Arial" panose="020B0604020202020204"/>
              </a:defRPr>
            </a:pPr>
            <a:r>
              <a:t>MySQL Database</a:t>
            </a:r>
            <a:br/>
            <a:r>
              <a:t>User credentials</a:t>
            </a:r>
            <a:br/>
            <a:r>
              <a:t>Sync calendar schedules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2011680"/>
            <a:ext cx="3200400" cy="73152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286000"/>
            <a:ext cx="108173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F4F4F9"/>
                </a:solidFill>
                <a:latin typeface="Arial" panose="020B0604020202020204"/>
              </a:defRPr>
            </a:pPr>
            <a:r>
              <a:t>TwinFusion AI</a:t>
            </a:r>
          </a:p>
          <a:p>
            <a:pPr>
              <a:spcBef>
                <a:spcPts val="1800"/>
              </a:spcBef>
              <a:defRPr sz="2400">
                <a:solidFill>
                  <a:srgbClr val="06B6D4"/>
                </a:solidFill>
                <a:latin typeface="Arial" panose="020B0604020202020204"/>
              </a:defRPr>
            </a:pPr>
            <a:r>
              <a:t>Your digital senior. Your campus journey, co-piloted.</a:t>
            </a:r>
          </a:p>
          <a:p>
            <a:pPr>
              <a:spcBef>
                <a:spcPts val="1200"/>
              </a:spcBef>
              <a:defRPr sz="1600">
                <a:solidFill>
                  <a:srgbClr val="8A99AD"/>
                </a:solidFill>
                <a:latin typeface="Arial" panose="020B0604020202020204"/>
              </a:defRPr>
            </a:pPr>
            <a:r>
              <a:t>Let's make campus onboarding simple, one digital twin at a 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2214</Words>
  <Application>WPS Presentation</Application>
  <PresentationFormat>On-screen Show (4:3)</PresentationFormat>
  <Paragraphs>71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SimSun</vt:lpstr>
      <vt:lpstr>Wingdings</vt:lpstr>
      <vt:lpstr>Arial</vt:lpstr>
      <vt:lpstr>Courier New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WPS_1781546130</cp:lastModifiedBy>
  <cp:revision>2</cp:revision>
  <dcterms:created xsi:type="dcterms:W3CDTF">2013-01-27T09:14:00Z</dcterms:created>
  <dcterms:modified xsi:type="dcterms:W3CDTF">2026-07-19T04:13:06Z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1BDD549446ED477DBF8B01F1822BFE6E_12</vt:lpwstr>
  </property>
  <property fmtid="{D5CDD505-2E9C-101B-9397-08002B2CF9AE}" pid="3" name="KSOProductBuildVer">
    <vt:lpwstr>1033-12.1.0.26880</vt:lpwstr>
  </property>
</Properties>
</file>